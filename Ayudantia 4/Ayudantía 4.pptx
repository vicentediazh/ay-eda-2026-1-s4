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8"/>
  </p:notesMasterIdLst>
  <p:sldIdLst>
    <p:sldId id="256" r:id="rId2"/>
    <p:sldId id="260" r:id="rId3"/>
    <p:sldId id="272" r:id="rId4"/>
    <p:sldId id="258" r:id="rId5"/>
    <p:sldId id="267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0B2BE-9EE1-4315-9CBC-E1E2D6F1C4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8C4AE-5962-4970-BD78-12BB60F742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5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2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1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3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4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5/docs/api/java.base/java/util/Stack.html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oracle.com/en/java/javase/15/docs/api/java.base/java/util/Queu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6C2A261-D372-1A97-14E8-B22E0849E3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3380" b="203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1D894A-009B-3EEB-B491-C2CE2E6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FFFFFF"/>
                </a:solidFill>
              </a:rPr>
              <a:t>Ayudantía 4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66C05-16FC-01FE-77E8-1D4E30CE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1"/>
            <a:ext cx="10058400" cy="1453895"/>
          </a:xfrm>
        </p:spPr>
        <p:txBody>
          <a:bodyPr>
            <a:normAutofit fontScale="62500" lnSpcReduction="20000"/>
          </a:bodyPr>
          <a:lstStyle/>
          <a:p>
            <a:r>
              <a:rPr lang="es-CL" dirty="0">
                <a:solidFill>
                  <a:srgbClr val="FFFFFF"/>
                </a:solidFill>
              </a:rPr>
              <a:t>Estructura de Datos y Algoritmos</a:t>
            </a:r>
          </a:p>
          <a:p>
            <a:r>
              <a:rPr lang="en-US" dirty="0" err="1">
                <a:solidFill>
                  <a:srgbClr val="FFFFFF"/>
                </a:solidFill>
              </a:rPr>
              <a:t>Profesor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 dirty="0" err="1">
                <a:solidFill>
                  <a:srgbClr val="FFFFFF"/>
                </a:solidFill>
              </a:rPr>
              <a:t>Yerko</a:t>
            </a:r>
            <a:r>
              <a:rPr lang="en-US" dirty="0">
                <a:solidFill>
                  <a:srgbClr val="FFFFFF"/>
                </a:solidFill>
              </a:rPr>
              <a:t> Ortiz</a:t>
            </a:r>
            <a:endParaRPr lang="es-CL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Ayudante: Vicente Diaz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s-CL" dirty="0">
                <a:solidFill>
                  <a:srgbClr val="FFFFFF"/>
                </a:solidFill>
              </a:rPr>
              <a:t>Sección</a:t>
            </a:r>
            <a:r>
              <a:rPr lang="en-US" dirty="0">
                <a:solidFill>
                  <a:srgbClr val="FFFFFF"/>
                </a:solidFill>
              </a:rPr>
              <a:t> 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Imagen 4" descr="Gato parado en dos patas&#10;&#10;El contenido generado por IA puede ser incorrecto.">
            <a:extLst>
              <a:ext uri="{FF2B5EF4-FFF2-40B4-BE49-F238E27FC236}">
                <a16:creationId xmlns:a16="http://schemas.microsoft.com/office/drawing/2014/main" id="{25C59F27-9ED2-CE42-CC57-8BC064D8F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" y="317649"/>
            <a:ext cx="8839200" cy="2409825"/>
          </a:xfrm>
          <a:prstGeom prst="rect">
            <a:avLst/>
          </a:prstGeom>
        </p:spPr>
      </p:pic>
      <p:pic>
        <p:nvPicPr>
          <p:cNvPr id="8" name="Imagen 7" descr="Imagen que contiene alimentos, tabla, cuarto, pájaro&#10;&#10;El contenido generado por IA puede ser incorrecto.">
            <a:extLst>
              <a:ext uri="{FF2B5EF4-FFF2-40B4-BE49-F238E27FC236}">
                <a16:creationId xmlns:a16="http://schemas.microsoft.com/office/drawing/2014/main" id="{898C2B37-4A8A-985D-5F83-5285C4949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90" y="2647325"/>
            <a:ext cx="27717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46446-4C82-B973-B4D1-E5B42C62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4176361" cy="1666501"/>
          </a:xfrm>
        </p:spPr>
        <p:txBody>
          <a:bodyPr>
            <a:noAutofit/>
          </a:bodyPr>
          <a:lstStyle/>
          <a:p>
            <a:r>
              <a:rPr lang="es-CL" sz="8000" dirty="0">
                <a:solidFill>
                  <a:schemeClr val="tx1"/>
                </a:solidFill>
              </a:rPr>
              <a:t>Contacto</a:t>
            </a:r>
            <a:endParaRPr lang="en-US" sz="8000" dirty="0">
              <a:solidFill>
                <a:schemeClr val="tx1"/>
              </a:solidFill>
            </a:endParaRP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131BB1D-5A7B-B3EE-7E92-61B19AC4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0" y="2523849"/>
            <a:ext cx="5336525" cy="3342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4000" dirty="0" err="1">
                <a:solidFill>
                  <a:schemeClr val="tx1"/>
                </a:solidFill>
              </a:rPr>
              <a:t>Discord</a:t>
            </a:r>
            <a:r>
              <a:rPr lang="es-CL" sz="4000" dirty="0">
                <a:solidFill>
                  <a:schemeClr val="tx1"/>
                </a:solidFill>
              </a:rPr>
              <a:t>: </a:t>
            </a:r>
            <a:r>
              <a:rPr lang="es-CL" sz="4000" dirty="0" err="1">
                <a:solidFill>
                  <a:schemeClr val="tx1"/>
                </a:solidFill>
              </a:rPr>
              <a:t>trapitokid</a:t>
            </a:r>
            <a:endParaRPr lang="es-CL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CL" sz="4000" dirty="0" err="1">
                <a:solidFill>
                  <a:schemeClr val="tx1"/>
                </a:solidFill>
              </a:rPr>
              <a:t>Wsp</a:t>
            </a:r>
            <a:r>
              <a:rPr lang="es-CL" sz="4000" dirty="0">
                <a:solidFill>
                  <a:schemeClr val="tx1"/>
                </a:solidFill>
              </a:rPr>
              <a:t>: +569 5749 6014</a:t>
            </a:r>
          </a:p>
          <a:p>
            <a:pPr marL="0" indent="0">
              <a:buNone/>
            </a:pPr>
            <a:r>
              <a:rPr lang="es-CL" sz="4000" dirty="0" err="1">
                <a:solidFill>
                  <a:schemeClr val="tx1"/>
                </a:solidFill>
              </a:rPr>
              <a:t>Steam</a:t>
            </a:r>
            <a:r>
              <a:rPr lang="es-CL" sz="4000" dirty="0">
                <a:solidFill>
                  <a:schemeClr val="tx1"/>
                </a:solidFill>
              </a:rPr>
              <a:t>: </a:t>
            </a:r>
            <a:r>
              <a:rPr lang="es-CL" sz="4000" dirty="0" err="1">
                <a:solidFill>
                  <a:schemeClr val="tx1"/>
                </a:solidFill>
              </a:rPr>
              <a:t>Coustillier</a:t>
            </a:r>
            <a:endParaRPr lang="es-CL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CL" sz="4000" dirty="0">
              <a:solidFill>
                <a:schemeClr val="tx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5FEAD962-4117-9D02-40EF-C09452EB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301" y="1626755"/>
            <a:ext cx="21812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3481590-EFD3-FBEB-862C-4DED842D2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220" y="294409"/>
            <a:ext cx="290512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3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20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8141110" y="639098"/>
            <a:ext cx="3401961" cy="349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Twentieth Century"/>
              <a:buNone/>
            </a:pPr>
            <a:r>
              <a:rPr lang="es-CL">
                <a:solidFill>
                  <a:srgbClr val="262626"/>
                </a:solidFill>
              </a:rPr>
              <a:t>Búsqueda Binaria</a:t>
            </a:r>
            <a:endParaRPr>
              <a:solidFill>
                <a:srgbClr val="262626"/>
              </a:solidFill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8209305" y="4294754"/>
            <a:ext cx="320040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2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037" y="364776"/>
            <a:ext cx="2904126" cy="25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Binary vs Linear Search  Animated Gif"/>
          <p:cNvPicPr preferRelativeResize="0"/>
          <p:nvPr/>
        </p:nvPicPr>
        <p:blipFill rotWithShape="1">
          <a:blip r:embed="rId4">
            <a:alphaModFix/>
          </a:blip>
          <a:srcRect t="48270" b="6166"/>
          <a:stretch/>
        </p:blipFill>
        <p:spPr>
          <a:xfrm>
            <a:off x="3722962" y="327553"/>
            <a:ext cx="7686743" cy="233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Binary vs Linear Search  Animated Gif"/>
          <p:cNvPicPr preferRelativeResize="0"/>
          <p:nvPr/>
        </p:nvPicPr>
        <p:blipFill rotWithShape="1">
          <a:blip r:embed="rId4">
            <a:alphaModFix/>
          </a:blip>
          <a:srcRect b="54023"/>
          <a:stretch/>
        </p:blipFill>
        <p:spPr>
          <a:xfrm>
            <a:off x="3722962" y="3974183"/>
            <a:ext cx="7760081" cy="2378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037" y="3739862"/>
            <a:ext cx="3030941" cy="261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9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2000E4-DD89-5F9A-7C46-89B78D3A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51097"/>
            <a:ext cx="5977937" cy="1666501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chemeClr val="tx1"/>
                </a:solidFill>
              </a:rPr>
              <a:t>Pilas (</a:t>
            </a:r>
            <a:r>
              <a:rPr lang="es-CL" sz="4000" dirty="0" err="1">
                <a:solidFill>
                  <a:schemeClr val="tx1"/>
                </a:solidFill>
              </a:rPr>
              <a:t>Stacks</a:t>
            </a:r>
            <a:r>
              <a:rPr lang="es-CL" sz="4000" dirty="0">
                <a:solidFill>
                  <a:schemeClr val="tx1"/>
                </a:solidFill>
              </a:rPr>
              <a:t>)</a:t>
            </a:r>
            <a:endParaRPr lang="en-US" sz="4000" dirty="0">
              <a:solidFill>
                <a:schemeClr val="tx1"/>
              </a:solidFill>
            </a:endParaRP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87EB15-2B13-2E06-287A-DBD67A46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55094"/>
            <a:ext cx="10058400" cy="3760891"/>
          </a:xfrm>
        </p:spPr>
        <p:txBody>
          <a:bodyPr/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LIFO (</a:t>
            </a:r>
            <a:r>
              <a:rPr lang="es-CL" dirty="0" err="1"/>
              <a:t>Last</a:t>
            </a:r>
            <a:r>
              <a:rPr lang="es-CL" dirty="0"/>
              <a:t> in, </a:t>
            </a:r>
            <a:r>
              <a:rPr lang="es-CL" dirty="0" err="1"/>
              <a:t>First</a:t>
            </a:r>
            <a:r>
              <a:rPr lang="es-CL" dirty="0"/>
              <a:t> </a:t>
            </a:r>
            <a:r>
              <a:rPr lang="es-CL" dirty="0" err="1"/>
              <a:t>out</a:t>
            </a:r>
            <a:r>
              <a:rPr lang="es-CL" dirty="0"/>
              <a:t>).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El último en entrar es el primero en salir.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Biblioteca: </a:t>
            </a:r>
            <a:r>
              <a:rPr lang="es-CL" dirty="0" err="1"/>
              <a:t>java.util.Stack</a:t>
            </a:r>
            <a:endParaRPr lang="es-CL" dirty="0"/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</a:t>
            </a:r>
            <a:r>
              <a:rPr lang="es-CL" dirty="0" err="1"/>
              <a:t>Push</a:t>
            </a:r>
            <a:r>
              <a:rPr lang="es-CL" dirty="0"/>
              <a:t>: ingresa elemento a la pila.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Pop: elimina el último elemento ingresado.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endParaRPr lang="es-CL" dirty="0"/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027D05-FF54-82E1-F1DA-AEE5993BF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711" y="2620702"/>
            <a:ext cx="4890207" cy="33921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4EF929B-B1E4-2351-94F4-F440E0C2977A}"/>
              </a:ext>
            </a:extLst>
          </p:cNvPr>
          <p:cNvSpPr txBox="1"/>
          <p:nvPr/>
        </p:nvSpPr>
        <p:spPr>
          <a:xfrm>
            <a:off x="2588063" y="5622128"/>
            <a:ext cx="4395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F0502020204030204"/>
                <a:ea typeface="+mn-ea"/>
                <a:cs typeface="+mn-cs"/>
                <a:hlinkClick r:id="rId3"/>
              </a:rPr>
              <a:t>Documentación</a:t>
            </a:r>
            <a:endParaRPr lang="en-US" sz="3200" dirty="0"/>
          </a:p>
        </p:txBody>
      </p:sp>
      <p:pic>
        <p:nvPicPr>
          <p:cNvPr id="8" name="Imagen 7" descr="Imagen en blanco y negro de un perro con la boca abierta&#10;&#10;Descripción generada automáticamente con confianza media">
            <a:extLst>
              <a:ext uri="{FF2B5EF4-FFF2-40B4-BE49-F238E27FC236}">
                <a16:creationId xmlns:a16="http://schemas.microsoft.com/office/drawing/2014/main" id="{68156C0D-1DB0-F448-DF1E-469CCAC0B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169" y="-189173"/>
            <a:ext cx="80486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0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Rectangle 1039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2000E4-DD89-5F9A-7C46-89B78D3A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51097"/>
            <a:ext cx="5977937" cy="1666501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chemeClr val="tx1"/>
                </a:solidFill>
              </a:rPr>
              <a:t>Colas (</a:t>
            </a:r>
            <a:r>
              <a:rPr lang="es-CL" sz="4000" dirty="0" err="1">
                <a:solidFill>
                  <a:schemeClr val="tx1"/>
                </a:solidFill>
              </a:rPr>
              <a:t>Queues</a:t>
            </a:r>
            <a:r>
              <a:rPr lang="es-CL" sz="4000" dirty="0">
                <a:solidFill>
                  <a:schemeClr val="tx1"/>
                </a:solidFill>
              </a:rPr>
              <a:t>)</a:t>
            </a:r>
            <a:endParaRPr lang="en-US" sz="4000" dirty="0">
              <a:solidFill>
                <a:schemeClr val="tx1"/>
              </a:solidFill>
            </a:endParaRP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87EB15-2B13-2E06-287A-DBD67A46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55094"/>
            <a:ext cx="10058400" cy="3760891"/>
          </a:xfrm>
        </p:spPr>
        <p:txBody>
          <a:bodyPr>
            <a:normAutofit/>
          </a:bodyPr>
          <a:lstStyle/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FIFO (</a:t>
            </a:r>
            <a:r>
              <a:rPr lang="es-CL" dirty="0" err="1"/>
              <a:t>First</a:t>
            </a:r>
            <a:r>
              <a:rPr lang="es-CL" dirty="0"/>
              <a:t> in, </a:t>
            </a:r>
            <a:r>
              <a:rPr lang="es-CL" dirty="0" err="1"/>
              <a:t>First</a:t>
            </a:r>
            <a:r>
              <a:rPr lang="es-CL" dirty="0"/>
              <a:t> </a:t>
            </a:r>
            <a:r>
              <a:rPr lang="es-CL" dirty="0" err="1"/>
              <a:t>out</a:t>
            </a:r>
            <a:r>
              <a:rPr lang="es-CL" dirty="0"/>
              <a:t>).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Primero en entrar es el primero en salir.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Biblioteca: </a:t>
            </a:r>
            <a:r>
              <a:rPr lang="es-CL" dirty="0" err="1"/>
              <a:t>java.util.Queue</a:t>
            </a:r>
            <a:endParaRPr lang="es-CL" dirty="0"/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</a:t>
            </a:r>
            <a:r>
              <a:rPr lang="es-CL" dirty="0" err="1"/>
              <a:t>Offer</a:t>
            </a:r>
            <a:r>
              <a:rPr lang="es-CL" dirty="0"/>
              <a:t>: ingresa elemento a la cola.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s-CL" dirty="0"/>
              <a:t> </a:t>
            </a:r>
            <a:r>
              <a:rPr lang="es-CL" dirty="0" err="1"/>
              <a:t>Poll</a:t>
            </a:r>
            <a:r>
              <a:rPr lang="es-CL" dirty="0"/>
              <a:t>: elimina el elemento que esta en</a:t>
            </a:r>
            <a:br>
              <a:rPr lang="es-CL" dirty="0"/>
            </a:br>
            <a:r>
              <a:rPr lang="es-CL" dirty="0"/>
              <a:t>la cabeza.</a:t>
            </a:r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endParaRPr lang="es-CL" dirty="0"/>
          </a:p>
          <a:p>
            <a:pPr>
              <a:buClr>
                <a:schemeClr val="accent6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389C93-61A4-754B-3A4A-10148B9D08C1}"/>
              </a:ext>
            </a:extLst>
          </p:cNvPr>
          <p:cNvSpPr txBox="1"/>
          <p:nvPr/>
        </p:nvSpPr>
        <p:spPr>
          <a:xfrm>
            <a:off x="2543675" y="5786051"/>
            <a:ext cx="4395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>
                <a:hlinkClick r:id="rId2"/>
              </a:rPr>
              <a:t>Documentación</a:t>
            </a:r>
            <a:endParaRPr lang="en-US" sz="3200" dirty="0"/>
          </a:p>
        </p:txBody>
      </p:sp>
      <p:pic>
        <p:nvPicPr>
          <p:cNvPr id="12" name="Imagen 11" descr="Una caricatura de una persona&#10;&#10;Descripción generada automáticamente con confianza media">
            <a:extLst>
              <a:ext uri="{FF2B5EF4-FFF2-40B4-BE49-F238E27FC236}">
                <a16:creationId xmlns:a16="http://schemas.microsoft.com/office/drawing/2014/main" id="{9BDBA812-02BB-4C07-7160-D0B2E8DC9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784" y="762590"/>
            <a:ext cx="5347093" cy="544431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1F3C612-8375-D0F6-5B8C-B5916163D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784" y="4110102"/>
            <a:ext cx="3597452" cy="24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72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8789-3F7A-6672-265F-AD9A988A1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CB4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8DB51D-2764-613C-03D2-114BA75DF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287915"/>
            <a:ext cx="3084844" cy="635688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Ejercicio 1</a:t>
            </a:r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89798-7A04-943B-D66E-17004F93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01" y="923604"/>
            <a:ext cx="3714499" cy="542004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s-ES" sz="1600" dirty="0">
                <a:solidFill>
                  <a:srgbClr val="FFFFFF"/>
                </a:solidFill>
              </a:rPr>
              <a:t>  El Papi Miki, ídolo de TikTok, decidió abrir un </a:t>
            </a:r>
            <a:r>
              <a:rPr lang="es-ES" sz="1600" i="1" dirty="0">
                <a:solidFill>
                  <a:srgbClr val="FFFFFF"/>
                </a:solidFill>
              </a:rPr>
              <a:t>“</a:t>
            </a:r>
            <a:r>
              <a:rPr lang="es-ES" sz="1600" i="1" dirty="0" err="1">
                <a:solidFill>
                  <a:srgbClr val="FFFFFF"/>
                </a:solidFill>
              </a:rPr>
              <a:t>Tio</a:t>
            </a:r>
            <a:r>
              <a:rPr lang="es-ES" sz="1600" i="1" dirty="0">
                <a:solidFill>
                  <a:srgbClr val="FFFFFF"/>
                </a:solidFill>
              </a:rPr>
              <a:t> Aceite espiritual"</a:t>
            </a:r>
            <a:r>
              <a:rPr lang="es-ES" sz="1600" dirty="0">
                <a:solidFill>
                  <a:srgbClr val="FFFFFF"/>
                </a:solidFill>
              </a:rPr>
              <a:t> donde vende </a:t>
            </a:r>
            <a:r>
              <a:rPr lang="es-ES" sz="1600" i="1" dirty="0">
                <a:solidFill>
                  <a:srgbClr val="FFFFFF"/>
                </a:solidFill>
              </a:rPr>
              <a:t>completos chamánicos</a:t>
            </a:r>
            <a:r>
              <a:rPr lang="es-ES" sz="1600" dirty="0">
                <a:solidFill>
                  <a:srgbClr val="FFFFFF"/>
                </a:solidFill>
              </a:rPr>
              <a:t>, y </a:t>
            </a:r>
            <a:r>
              <a:rPr lang="es-ES" sz="1600" i="1" dirty="0">
                <a:solidFill>
                  <a:srgbClr val="FFFFFF"/>
                </a:solidFill>
              </a:rPr>
              <a:t>pan pita de </a:t>
            </a:r>
            <a:r>
              <a:rPr lang="es-ES" sz="1600" i="1" dirty="0" err="1">
                <a:solidFill>
                  <a:srgbClr val="FFFFFF"/>
                </a:solidFill>
              </a:rPr>
              <a:t>chakras</a:t>
            </a:r>
            <a:r>
              <a:rPr lang="es-ES" sz="1600" i="1" dirty="0">
                <a:solidFill>
                  <a:srgbClr val="FFFFFF"/>
                </a:solidFill>
              </a:rPr>
              <a:t> invertidos</a:t>
            </a:r>
            <a:r>
              <a:rPr lang="es-ES" sz="1600" dirty="0">
                <a:solidFill>
                  <a:srgbClr val="FFFFFF"/>
                </a:solidFill>
              </a:rPr>
              <a:t>. Obvio que se volvió viral altiro, y todos los </a:t>
            </a:r>
            <a:r>
              <a:rPr lang="es-ES" sz="1600" dirty="0" err="1">
                <a:solidFill>
                  <a:srgbClr val="FFFFFF"/>
                </a:solidFill>
              </a:rPr>
              <a:t>ñuñoinos</a:t>
            </a:r>
            <a:r>
              <a:rPr lang="es-ES" sz="1600" dirty="0">
                <a:solidFill>
                  <a:srgbClr val="FFFFFF"/>
                </a:solidFill>
              </a:rPr>
              <a:t> con doctorado en astrología llegaron a comprar mientras el Socias grababa un podcast a 30 metros hablando de cómo los completos son una metáfora del amor. (grande socias y </a:t>
            </a:r>
            <a:r>
              <a:rPr lang="es-ES" sz="1600" dirty="0" err="1">
                <a:solidFill>
                  <a:srgbClr val="FFFFFF"/>
                </a:solidFill>
              </a:rPr>
              <a:t>pau</a:t>
            </a:r>
            <a:r>
              <a:rPr lang="es-ES" sz="1600" dirty="0">
                <a:solidFill>
                  <a:srgbClr val="FFFFFF"/>
                </a:solidFill>
              </a:rPr>
              <a:t>, los banco, atte. </a:t>
            </a:r>
            <a:r>
              <a:rPr lang="es-ES" sz="1600" dirty="0" err="1">
                <a:solidFill>
                  <a:srgbClr val="FFFFFF"/>
                </a:solidFill>
              </a:rPr>
              <a:t>yop</a:t>
            </a:r>
            <a:r>
              <a:rPr lang="es-ES" sz="1600" dirty="0">
                <a:solidFill>
                  <a:srgbClr val="FFFFFF"/>
                </a:solidFill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s-ES" sz="1600" dirty="0">
                <a:solidFill>
                  <a:srgbClr val="FFFFFF"/>
                </a:solidFill>
              </a:rPr>
              <a:t>Pero... ¡</a:t>
            </a:r>
            <a:r>
              <a:rPr lang="es-ES" sz="1600" dirty="0" err="1">
                <a:solidFill>
                  <a:srgbClr val="FFFFFF"/>
                </a:solidFill>
              </a:rPr>
              <a:t>cachai</a:t>
            </a:r>
            <a:r>
              <a:rPr lang="es-ES" sz="1600" dirty="0">
                <a:solidFill>
                  <a:srgbClr val="FFFFFF"/>
                </a:solidFill>
              </a:rPr>
              <a:t> que el sistema de pedidos es un CAOS! Los </a:t>
            </a:r>
            <a:r>
              <a:rPr lang="es-ES" sz="1600" dirty="0" err="1">
                <a:solidFill>
                  <a:srgbClr val="FFFFFF"/>
                </a:solidFill>
              </a:rPr>
              <a:t>ñuñoinos</a:t>
            </a:r>
            <a:r>
              <a:rPr lang="es-ES" sz="1600" dirty="0">
                <a:solidFill>
                  <a:srgbClr val="FFFFFF"/>
                </a:solidFill>
              </a:rPr>
              <a:t> hacen fila para pedir (COLA), pero el Papi Miki prepara los platos a lo loco y los deja apilados en una bandeja maldita (PILA). Y para colmo, los indios lo están grabando </a:t>
            </a:r>
            <a:r>
              <a:rPr lang="es-ES" sz="1600" dirty="0" err="1">
                <a:solidFill>
                  <a:srgbClr val="FFFFFF"/>
                </a:solidFill>
              </a:rPr>
              <a:t>pa</a:t>
            </a:r>
            <a:r>
              <a:rPr lang="es-ES" sz="1600" dirty="0">
                <a:solidFill>
                  <a:srgbClr val="FFFFFF"/>
                </a:solidFill>
              </a:rPr>
              <a:t>' puro ganarle los </a:t>
            </a:r>
            <a:r>
              <a:rPr lang="es-ES" sz="1600" dirty="0" err="1">
                <a:solidFill>
                  <a:srgbClr val="FFFFFF"/>
                </a:solidFill>
              </a:rPr>
              <a:t>lives</a:t>
            </a:r>
            <a:r>
              <a:rPr lang="es-ES" sz="1600" dirty="0">
                <a:solidFill>
                  <a:srgbClr val="FFFFFF"/>
                </a:solidFill>
              </a:rPr>
              <a:t> de </a:t>
            </a:r>
            <a:r>
              <a:rPr lang="es-ES" sz="1600" dirty="0" err="1">
                <a:solidFill>
                  <a:srgbClr val="FFFFFF"/>
                </a:solidFill>
              </a:rPr>
              <a:t>Tiktok</a:t>
            </a:r>
            <a:r>
              <a:rPr lang="es-ES" sz="1600" dirty="0">
                <a:solidFill>
                  <a:srgbClr val="FFFFFF"/>
                </a:solidFill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s-ES" sz="1600" dirty="0">
                <a:solidFill>
                  <a:srgbClr val="FFFFFF"/>
                </a:solidFill>
              </a:rPr>
              <a:t>(contexto creado por </a:t>
            </a:r>
            <a:r>
              <a:rPr lang="es-ES" sz="1600" dirty="0" err="1">
                <a:solidFill>
                  <a:srgbClr val="FFFFFF"/>
                </a:solidFill>
              </a:rPr>
              <a:t>chatgpt</a:t>
            </a:r>
            <a:r>
              <a:rPr lang="es-ES" sz="1600" dirty="0">
                <a:solidFill>
                  <a:srgbClr val="FFFFFF"/>
                </a:solidFill>
              </a:rPr>
              <a:t> </a:t>
            </a:r>
            <a:r>
              <a:rPr lang="es-CL" sz="1600" dirty="0">
                <a:solidFill>
                  <a:srgbClr val="FFFFFF"/>
                </a:solidFill>
              </a:rPr>
              <a:t>(。_。)</a:t>
            </a:r>
            <a:r>
              <a:rPr lang="es-ES" sz="1600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718D598-AF33-1017-CC7F-94679494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33" y="11951"/>
            <a:ext cx="8131753" cy="4645774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010056F3-9810-E41E-464D-E46303D12AD9}"/>
              </a:ext>
            </a:extLst>
          </p:cNvPr>
          <p:cNvSpPr txBox="1">
            <a:spLocks/>
          </p:cNvSpPr>
          <p:nvPr/>
        </p:nvSpPr>
        <p:spPr>
          <a:xfrm>
            <a:off x="4187850" y="4761781"/>
            <a:ext cx="3584550" cy="194957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Calibri" panose="020F0502020204030204" pitchFamily="34" charset="0"/>
              <a:buNone/>
            </a:pPr>
            <a:r>
              <a:rPr lang="es-ES" sz="1600" dirty="0">
                <a:solidFill>
                  <a:schemeClr val="tx1"/>
                </a:solidFill>
              </a:rPr>
              <a:t>Realizar función </a:t>
            </a:r>
            <a:r>
              <a:rPr lang="es-ES" sz="1600" dirty="0" err="1">
                <a:solidFill>
                  <a:schemeClr val="tx1"/>
                </a:solidFill>
              </a:rPr>
              <a:t>Queue</a:t>
            </a:r>
            <a:r>
              <a:rPr lang="es-ES" sz="1600" dirty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enqueue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dequeue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isEmpty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print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1593B153-6E04-5334-AC9D-8A977DF9990E}"/>
              </a:ext>
            </a:extLst>
          </p:cNvPr>
          <p:cNvSpPr txBox="1">
            <a:spLocks/>
          </p:cNvSpPr>
          <p:nvPr/>
        </p:nvSpPr>
        <p:spPr>
          <a:xfrm>
            <a:off x="7900315" y="4761781"/>
            <a:ext cx="3584550" cy="194957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Calibri" panose="020F0502020204030204" pitchFamily="34" charset="0"/>
              <a:buNone/>
            </a:pPr>
            <a:r>
              <a:rPr lang="es-ES" sz="1600" dirty="0">
                <a:solidFill>
                  <a:schemeClr val="tx1"/>
                </a:solidFill>
              </a:rPr>
              <a:t>Realizar función </a:t>
            </a:r>
            <a:r>
              <a:rPr lang="es-ES" sz="1600" dirty="0" err="1">
                <a:solidFill>
                  <a:schemeClr val="tx1"/>
                </a:solidFill>
              </a:rPr>
              <a:t>Stack</a:t>
            </a:r>
            <a:r>
              <a:rPr lang="es-ES" sz="1600" dirty="0">
                <a:solidFill>
                  <a:schemeClr val="tx1"/>
                </a:solidFill>
              </a:rPr>
              <a:t>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push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pop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isEmpty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print</a:t>
            </a:r>
            <a:endParaRPr lang="es-ES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0040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430"/>
      </a:dk2>
      <a:lt2>
        <a:srgbClr val="F0F3F1"/>
      </a:lt2>
      <a:accent1>
        <a:srgbClr val="CB45B5"/>
      </a:accent1>
      <a:accent2>
        <a:srgbClr val="9833B9"/>
      </a:accent2>
      <a:accent3>
        <a:srgbClr val="7145CB"/>
      </a:accent3>
      <a:accent4>
        <a:srgbClr val="3843BB"/>
      </a:accent4>
      <a:accent5>
        <a:srgbClr val="4588CB"/>
      </a:accent5>
      <a:accent6>
        <a:srgbClr val="33AEB9"/>
      </a:accent6>
      <a:hlink>
        <a:srgbClr val="3F6ABF"/>
      </a:hlink>
      <a:folHlink>
        <a:srgbClr val="7F7F7F"/>
      </a:folHlink>
    </a:clrScheme>
    <a:fontScheme name="Retrospect">
      <a:majorFont>
        <a:latin typeface="Tw Cen M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310</Words>
  <Application>Microsoft Office PowerPoint</Application>
  <PresentationFormat>Panorámica</PresentationFormat>
  <Paragraphs>38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Tw Cen MT</vt:lpstr>
      <vt:lpstr>Twentieth Century</vt:lpstr>
      <vt:lpstr>Wingdings</vt:lpstr>
      <vt:lpstr>RetrospectVTI</vt:lpstr>
      <vt:lpstr>Ayudantía 4</vt:lpstr>
      <vt:lpstr>Contacto</vt:lpstr>
      <vt:lpstr>Búsqueda Binaria</vt:lpstr>
      <vt:lpstr>Pilas (Stacks)</vt:lpstr>
      <vt:lpstr>Colas (Queues)</vt:lpstr>
      <vt:lpstr>Ejercicio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Ayudantía 1</dc:title>
  <dc:creator>211330716</dc:creator>
  <cp:lastModifiedBy>211330716</cp:lastModifiedBy>
  <cp:revision>16</cp:revision>
  <dcterms:created xsi:type="dcterms:W3CDTF">2024-03-19T23:19:18Z</dcterms:created>
  <dcterms:modified xsi:type="dcterms:W3CDTF">2026-04-17T02:25:05Z</dcterms:modified>
</cp:coreProperties>
</file>