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0" r:id="rId3"/>
    <p:sldId id="257" r:id="rId4"/>
    <p:sldId id="264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2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4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7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3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4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VicenteDiazH/AY-EDA-2026-1-S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6C2A261-D372-1A97-14E8-B22E0849E3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3380" b="203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1D894A-009B-3EEB-B491-C2CE2E6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836343"/>
            <a:ext cx="10058400" cy="3566160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rgbClr val="FFFFFF"/>
                </a:solidFill>
              </a:rPr>
              <a:t>Ayudantía 1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66C05-16FC-01FE-77E8-1D4E30CE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1"/>
            <a:ext cx="10058400" cy="1453895"/>
          </a:xfrm>
        </p:spPr>
        <p:txBody>
          <a:bodyPr>
            <a:normAutofit fontScale="62500" lnSpcReduction="20000"/>
          </a:bodyPr>
          <a:lstStyle/>
          <a:p>
            <a:r>
              <a:rPr lang="es-CL" dirty="0">
                <a:solidFill>
                  <a:srgbClr val="FFFFFF"/>
                </a:solidFill>
              </a:rPr>
              <a:t>Estructura de Datos y Algoritmos</a:t>
            </a:r>
          </a:p>
          <a:p>
            <a:r>
              <a:rPr lang="en-US" dirty="0" err="1">
                <a:solidFill>
                  <a:srgbClr val="FFFFFF"/>
                </a:solidFill>
              </a:rPr>
              <a:t>Profesor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en-US" dirty="0" err="1">
                <a:solidFill>
                  <a:srgbClr val="FFFFFF"/>
                </a:solidFill>
              </a:rPr>
              <a:t>Yerko</a:t>
            </a:r>
            <a:r>
              <a:rPr lang="en-US" dirty="0">
                <a:solidFill>
                  <a:srgbClr val="FFFFFF"/>
                </a:solidFill>
              </a:rPr>
              <a:t> Ortiz</a:t>
            </a:r>
            <a:endParaRPr lang="es-CL" dirty="0">
              <a:solidFill>
                <a:srgbClr val="FFFFFF"/>
              </a:solidFill>
            </a:endParaRPr>
          </a:p>
          <a:p>
            <a:r>
              <a:rPr lang="es-CL" dirty="0">
                <a:solidFill>
                  <a:srgbClr val="FFFFFF"/>
                </a:solidFill>
              </a:rPr>
              <a:t>Ayudante: Vicente Díaz Hormazábal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s-CL" dirty="0">
                <a:solidFill>
                  <a:srgbClr val="FFFFFF"/>
                </a:solidFill>
              </a:rPr>
              <a:t>Sección </a:t>
            </a:r>
            <a:r>
              <a:rPr lang="en-US" dirty="0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83BF985-5044-A9E2-FE48-75C0AAD42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590550"/>
            <a:ext cx="3762375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895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4176361" cy="1666501"/>
          </a:xfrm>
        </p:spPr>
        <p:txBody>
          <a:bodyPr>
            <a:noAutofit/>
          </a:bodyPr>
          <a:lstStyle/>
          <a:p>
            <a:r>
              <a:rPr lang="es-CL" sz="8000" dirty="0">
                <a:solidFill>
                  <a:schemeClr val="tx1"/>
                </a:solidFill>
              </a:rPr>
              <a:t>Contacto</a:t>
            </a:r>
            <a:endParaRPr lang="en-US" sz="8000" dirty="0">
              <a:solidFill>
                <a:schemeClr val="tx1"/>
              </a:solidFill>
            </a:endParaRP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0" y="2523849"/>
            <a:ext cx="5876442" cy="3635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4000" dirty="0" err="1">
                <a:solidFill>
                  <a:schemeClr val="tx1"/>
                </a:solidFill>
              </a:rPr>
              <a:t>Discord</a:t>
            </a:r>
            <a:r>
              <a:rPr lang="es-CL" sz="4000" dirty="0">
                <a:solidFill>
                  <a:schemeClr val="tx1"/>
                </a:solidFill>
              </a:rPr>
              <a:t> Personal: </a:t>
            </a:r>
            <a:r>
              <a:rPr lang="es-CL" sz="4000" dirty="0" err="1">
                <a:solidFill>
                  <a:schemeClr val="tx1"/>
                </a:solidFill>
              </a:rPr>
              <a:t>barroslucopalta</a:t>
            </a:r>
            <a:endParaRPr lang="es-CL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L" sz="4000" dirty="0">
                <a:solidFill>
                  <a:schemeClr val="tx1"/>
                </a:solidFill>
              </a:rPr>
              <a:t>WSP: +569 5395 5405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</a:rPr>
              <a:t>Steam: </a:t>
            </a:r>
            <a:r>
              <a:rPr lang="en-US" sz="4000" dirty="0" err="1">
                <a:solidFill>
                  <a:schemeClr val="tx1"/>
                </a:solidFill>
              </a:rPr>
              <a:t>Coustillier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5FEAD962-4117-9D02-40EF-C09452EB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301" y="1626755"/>
            <a:ext cx="218122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3481590-EFD3-FBEB-862C-4DED842D2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220" y="294409"/>
            <a:ext cx="290512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3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F1EAAF-3B2B-4092-8FEB-E8A6C2BF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s-CL" sz="4000">
                <a:solidFill>
                  <a:srgbClr val="FFFFFF"/>
                </a:solidFill>
              </a:rPr>
              <a:t>Java</a:t>
            </a:r>
            <a:endParaRPr lang="en-US" sz="4000">
              <a:solidFill>
                <a:srgbClr val="FFFFFF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4480D7-E6FE-85BC-1C9E-13960982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Lenguaje de programación orientada a objetos.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Una clase posee atributos y métodos que definen el comportamiento de un objeto.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Existen expresiones las cuales se ocupan al programar.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sz="1800" dirty="0">
                <a:solidFill>
                  <a:srgbClr val="FFFFFF"/>
                </a:solidFill>
              </a:rPr>
              <a:t> Se ocupan los tipos de datos primitivos (</a:t>
            </a:r>
            <a:r>
              <a:rPr lang="es-CL" sz="1800" dirty="0" err="1">
                <a:solidFill>
                  <a:srgbClr val="FFFFFF"/>
                </a:solidFill>
              </a:rPr>
              <a:t>int</a:t>
            </a:r>
            <a:r>
              <a:rPr lang="es-CL" sz="1800" dirty="0">
                <a:solidFill>
                  <a:srgbClr val="FFFFFF"/>
                </a:solidFill>
              </a:rPr>
              <a:t>, </a:t>
            </a:r>
            <a:r>
              <a:rPr lang="es-CL" sz="1800" dirty="0" err="1">
                <a:solidFill>
                  <a:srgbClr val="FFFFFF"/>
                </a:solidFill>
              </a:rPr>
              <a:t>float</a:t>
            </a:r>
            <a:r>
              <a:rPr lang="es-CL" sz="1800" dirty="0">
                <a:solidFill>
                  <a:srgbClr val="FFFFFF"/>
                </a:solidFill>
              </a:rPr>
              <a:t>, </a:t>
            </a:r>
            <a:r>
              <a:rPr lang="es-CL" sz="1800" dirty="0" err="1">
                <a:solidFill>
                  <a:srgbClr val="FFFFFF"/>
                </a:solidFill>
              </a:rPr>
              <a:t>String</a:t>
            </a:r>
            <a:r>
              <a:rPr lang="es-CL" sz="1800" dirty="0">
                <a:solidFill>
                  <a:srgbClr val="FFFFFF"/>
                </a:solidFill>
              </a:rPr>
              <a:t>, </a:t>
            </a:r>
            <a:r>
              <a:rPr lang="es-CL" sz="1800" dirty="0" err="1">
                <a:solidFill>
                  <a:srgbClr val="FFFFFF"/>
                </a:solidFill>
              </a:rPr>
              <a:t>boolean</a:t>
            </a:r>
            <a:r>
              <a:rPr lang="es-CL" sz="1800" dirty="0">
                <a:solidFill>
                  <a:srgbClr val="FFFFFF"/>
                </a:solidFill>
              </a:rPr>
              <a:t>, etc.).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F5BE49E1-ED7E-98CB-1D1D-607F4873E7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7" r="11575" b="2"/>
          <a:stretch/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51199BC-B7DA-95FC-9E67-C8644239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479" y="3429000"/>
            <a:ext cx="2838521" cy="202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234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s-CL" sz="4000"/>
              <a:t>Pseudocódigo</a:t>
            </a:r>
            <a:endParaRPr lang="en-US" sz="400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/>
              <a:t>Es una descripción detallada y legible de lo que debe hacer un código. Su función es que cada desarrollador que lo lea sea capaz de llevarlo a código fácilmente.</a:t>
            </a:r>
            <a:endParaRPr lang="en-US"/>
          </a:p>
        </p:txBody>
      </p:sp>
      <p:pic>
        <p:nvPicPr>
          <p:cNvPr id="1030" name="Picture 6" descr="Pseudocódigo - Blog de Maybemar">
            <a:extLst>
              <a:ext uri="{FF2B5EF4-FFF2-40B4-BE49-F238E27FC236}">
                <a16:creationId xmlns:a16="http://schemas.microsoft.com/office/drawing/2014/main" id="{9B7D26C4-0203-8810-7FCD-4D66F4248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05155" y="562310"/>
            <a:ext cx="7869934" cy="527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Imagen 5" descr="Un gato encima de una mesa con comida&#10;&#10;Descripción generada automáticamente con confianza media">
            <a:extLst>
              <a:ext uri="{FF2B5EF4-FFF2-40B4-BE49-F238E27FC236}">
                <a16:creationId xmlns:a16="http://schemas.microsoft.com/office/drawing/2014/main" id="{AEF43F13-B087-1BBA-32F5-5F356E295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237" y="-6069"/>
            <a:ext cx="3512560" cy="35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3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000E4-DD89-5F9A-7C46-89B78D3A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Análisis asintótico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99D28-642F-8CF2-FFE6-DCE7A24AD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4647738" cy="3760891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 Algoritmo: secuencia de instrucciones claras y precisas.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 Eficiencia: ciclos de CPU (tiempo de ejecución) o memoria.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 El análisis asintótico es una relación entre tiempo y tamaño de la </a:t>
            </a:r>
            <a:r>
              <a:rPr lang="es-CL"/>
              <a:t>entrada </a:t>
            </a:r>
            <a:r>
              <a:rPr lang="es-CL" dirty="0"/>
              <a:t>y</a:t>
            </a:r>
            <a:r>
              <a:rPr lang="es-CL"/>
              <a:t> </a:t>
            </a:r>
            <a:r>
              <a:rPr lang="es-CL" dirty="0"/>
              <a:t>uso de memoria.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 Para describir estas complejidades se ocupan 3 notaciones:</a:t>
            </a:r>
            <a:br>
              <a:rPr lang="es-CL" dirty="0"/>
            </a:br>
            <a:r>
              <a:rPr lang="es-CL" dirty="0"/>
              <a:t>	- Big-O: peor de los casos 	{O [f(n)]}</a:t>
            </a:r>
            <a:br>
              <a:rPr lang="es-CL" dirty="0"/>
            </a:br>
            <a:r>
              <a:rPr lang="es-CL" dirty="0"/>
              <a:t>	- Omega: mejor de los casos 	{</a:t>
            </a:r>
            <a:r>
              <a:rPr lang="el-GR" dirty="0"/>
              <a:t>Ω</a:t>
            </a:r>
            <a:r>
              <a:rPr lang="es-CL" dirty="0"/>
              <a:t> [f(n)]}</a:t>
            </a:r>
            <a:br>
              <a:rPr lang="es-CL" dirty="0"/>
            </a:br>
            <a:r>
              <a:rPr lang="es-CL" dirty="0"/>
              <a:t>	- Theta: tiempo promedio 	{</a:t>
            </a:r>
            <a:r>
              <a:rPr lang="el-GR" dirty="0"/>
              <a:t>θ</a:t>
            </a:r>
            <a:r>
              <a:rPr lang="es-CL" dirty="0"/>
              <a:t> [f(n)]}</a:t>
            </a:r>
          </a:p>
          <a:p>
            <a:pPr>
              <a:buFont typeface="Wingdings" panose="05000000000000000000" pitchFamily="2" charset="2"/>
              <a:buChar char="§"/>
            </a:pPr>
            <a:endParaRPr lang="es-CL" dirty="0"/>
          </a:p>
        </p:txBody>
      </p:sp>
      <p:pic>
        <p:nvPicPr>
          <p:cNvPr id="1028" name="Picture 4" descr="Introducción a análisis asintótico - Platzi">
            <a:extLst>
              <a:ext uri="{FF2B5EF4-FFF2-40B4-BE49-F238E27FC236}">
                <a16:creationId xmlns:a16="http://schemas.microsoft.com/office/drawing/2014/main" id="{2D41518D-9A6B-894B-6934-F43F1EB0D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102" y="1563649"/>
            <a:ext cx="6227381" cy="430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191145F-241E-CC3F-5401-65ABC269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814" y="360495"/>
            <a:ext cx="2467897" cy="181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70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78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6" name="Rectangle 3080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CB4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087" name="Straight Connector 3082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625F31B-A9BA-8481-B7CE-5611E0249C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5564" y="1200727"/>
                <a:ext cx="3509817" cy="5255491"/>
              </a:xfrm>
            </p:spPr>
            <p:txBody>
              <a:bodyPr>
                <a:normAutofit/>
              </a:bodyPr>
              <a:lstStyle/>
              <a:p>
                <a:r>
                  <a:rPr lang="es-CL" sz="1800" dirty="0">
                    <a:solidFill>
                      <a:srgbClr val="FFFFFF"/>
                    </a:solidFill>
                  </a:rPr>
                  <a:t>O(1)= cualquier línea de código que no sea un ciclo ni recursión.</a:t>
                </a:r>
              </a:p>
              <a:p>
                <a:r>
                  <a:rPr lang="es-CL" sz="1800" dirty="0">
                    <a:solidFill>
                      <a:srgbClr val="FFFFFF"/>
                    </a:solidFill>
                  </a:rPr>
                  <a:t>O(log[n])= la variable del ciclo no aumenta de manera constante (*,/).</a:t>
                </a:r>
              </a:p>
              <a:p>
                <a:r>
                  <a:rPr lang="es-CL" sz="1800" dirty="0">
                    <a:solidFill>
                      <a:srgbClr val="FFFFFF"/>
                    </a:solidFill>
                  </a:rPr>
                  <a:t>O(n)= la variable del ciclo va aumentando o decreciendo constantemente.</a:t>
                </a:r>
              </a:p>
              <a:p>
                <a:r>
                  <a:rPr lang="es-CL" sz="1800" dirty="0">
                    <a:solidFill>
                      <a:srgbClr val="FFFFFF"/>
                    </a:solidFill>
                  </a:rPr>
                  <a:t>O(n log[n])= combinación de otros casos.</a:t>
                </a:r>
              </a:p>
              <a:p>
                <a:r>
                  <a:rPr lang="en-US" sz="1800" dirty="0">
                    <a:solidFill>
                      <a:srgbClr val="FFFFFF"/>
                    </a:solidFill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1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L" sz="1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s-CL" sz="1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FFFFFF"/>
                    </a:solidFill>
                  </a:rPr>
                  <a:t>)= </a:t>
                </a:r>
                <a:r>
                  <a:rPr lang="es-CL" sz="1800" dirty="0">
                    <a:solidFill>
                      <a:srgbClr val="FFFFFF"/>
                    </a:solidFill>
                  </a:rPr>
                  <a:t>x depende de cuantos ciclos anidados hay e iteran conforme a la entrada.</a:t>
                </a:r>
              </a:p>
              <a:p>
                <a:endParaRPr lang="es-CL" sz="1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625F31B-A9BA-8481-B7CE-5611E0249C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564" y="1200727"/>
                <a:ext cx="3509817" cy="5255491"/>
              </a:xfrm>
              <a:blipFill>
                <a:blip r:embed="rId2"/>
                <a:stretch>
                  <a:fillRect l="-1389" t="-464" r="-4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>
            <a:extLst>
              <a:ext uri="{FF2B5EF4-FFF2-40B4-BE49-F238E27FC236}">
                <a16:creationId xmlns:a16="http://schemas.microsoft.com/office/drawing/2014/main" id="{7A3D93DB-C292-9CFE-1914-AE61C3A6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64" y="138383"/>
            <a:ext cx="3945775" cy="923961"/>
          </a:xfrm>
        </p:spPr>
        <p:txBody>
          <a:bodyPr>
            <a:normAutofit/>
          </a:bodyPr>
          <a:lstStyle/>
          <a:p>
            <a:r>
              <a:rPr lang="es-CL" dirty="0"/>
              <a:t>Casos Big-O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784C93-0604-1B49-E53A-F20E156B3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94" y="650417"/>
            <a:ext cx="4059919" cy="943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D710A-98A4-DCC9-2750-3B62A8B24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94" y="1806937"/>
            <a:ext cx="4062113" cy="1132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AC5755-F75D-13E7-E60E-61D9350A3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373" y="3153616"/>
            <a:ext cx="4079959" cy="1814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11012-4FF4-3387-80FA-678A2702A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46" y="5182369"/>
            <a:ext cx="4079959" cy="1128499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DE11B438-F15F-0E75-CA88-9834155E812E}"/>
              </a:ext>
            </a:extLst>
          </p:cNvPr>
          <p:cNvSpPr/>
          <p:nvPr/>
        </p:nvSpPr>
        <p:spPr>
          <a:xfrm>
            <a:off x="3986896" y="-1"/>
            <a:ext cx="5996538" cy="685800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A6CF31-62AA-CA1B-F16B-C7A39CB1A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0157501">
            <a:off x="9584338" y="-54514"/>
            <a:ext cx="4071822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13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B75F59-4DE6-1149-AFA6-DBDA2F72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7363" cy="1450757"/>
          </a:xfrm>
        </p:spPr>
        <p:txBody>
          <a:bodyPr>
            <a:normAutofit/>
          </a:bodyPr>
          <a:lstStyle/>
          <a:p>
            <a:r>
              <a:rPr lang="es-CL" dirty="0"/>
              <a:t>Ejercicio 1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5846"/>
            <a:ext cx="62179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93EAFF-782F-E56F-CED2-AAFBE4ECB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929119" cy="376089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s-ES" sz="1800" dirty="0"/>
              <a:t>Se te otorga un array de n enteros. Quieres modificar el array para que sea creciente, es decir, cada elemento sea al menos tan grande como el elemento anterior. ¿Cuál es el número mínimo de movimientos requeridos?</a:t>
            </a:r>
          </a:p>
          <a:p>
            <a:pPr>
              <a:lnSpc>
                <a:spcPct val="100000"/>
              </a:lnSpc>
            </a:pPr>
            <a:r>
              <a:rPr lang="es-ES" sz="1800" dirty="0"/>
              <a:t>Input:</a:t>
            </a:r>
            <a:br>
              <a:rPr lang="es-ES" sz="1800" dirty="0"/>
            </a:br>
            <a:r>
              <a:rPr lang="es-ES" sz="1800" dirty="0"/>
              <a:t>La primera línea de entrada contiene un entero n (tamaño del array).</a:t>
            </a:r>
            <a:br>
              <a:rPr lang="es-ES" sz="1800" dirty="0"/>
            </a:br>
            <a:r>
              <a:rPr lang="es-ES" sz="1800" dirty="0"/>
              <a:t>Luego, la segunda línea contiene n enteros (contenido del array).</a:t>
            </a:r>
          </a:p>
          <a:p>
            <a:pPr>
              <a:lnSpc>
                <a:spcPct val="100000"/>
              </a:lnSpc>
            </a:pPr>
            <a:r>
              <a:rPr lang="es-ES" sz="1800" dirty="0"/>
              <a:t>Output:</a:t>
            </a:r>
            <a:br>
              <a:rPr lang="es-ES" sz="1800" dirty="0"/>
            </a:br>
            <a:r>
              <a:rPr lang="es-ES" sz="1800" dirty="0"/>
              <a:t>Imprime el número mínimo de movimientos.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2A30817-A0AC-3495-929D-24E08835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5619" y="640081"/>
            <a:ext cx="3179282" cy="511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C9799F-A0B8-45B9-8164-71F28389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CB4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10FF32-896A-33A9-6358-A4136F64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pPr algn="ctr"/>
            <a:r>
              <a:rPr lang="es-CL" sz="4000" dirty="0">
                <a:solidFill>
                  <a:srgbClr val="FFFFFF"/>
                </a:solidFill>
              </a:rPr>
              <a:t>Link </a:t>
            </a:r>
            <a:r>
              <a:rPr lang="es-CL" sz="4000" dirty="0" err="1">
                <a:solidFill>
                  <a:srgbClr val="FFFFFF"/>
                </a:solidFill>
              </a:rPr>
              <a:t>Github</a:t>
            </a:r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0D78B-5722-8E64-0449-803CEC35D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FFFFFF"/>
                </a:solidFill>
              </a:rPr>
              <a:t>Repositorio</a:t>
            </a:r>
            <a:r>
              <a:rPr lang="en-US" sz="1800" dirty="0">
                <a:solidFill>
                  <a:srgbClr val="FFFFFF"/>
                </a:solidFill>
              </a:rPr>
              <a:t>: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hlinkClick r:id="rId2"/>
              </a:rPr>
              <a:t>https://github.com/VicenteDiazH/AY-EDA-2026-1-S4</a:t>
            </a: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AF016B0-2FD1-5607-4AAD-6B8C1B71F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667279"/>
            <a:ext cx="6798082" cy="55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03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FFFBD-6BA2-FAD5-09F2-E85846E4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2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8B72A-3D56-E58B-4BD6-935C6298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 te otorga un valor INT el cual debes invertirlo.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D9704A-6C69-440A-1048-6670439DA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271" y="2480016"/>
            <a:ext cx="25146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C6F2566-06A8-B488-0703-E5A4E5EA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30" y="5087408"/>
            <a:ext cx="74771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212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430"/>
      </a:dk2>
      <a:lt2>
        <a:srgbClr val="F0F3F1"/>
      </a:lt2>
      <a:accent1>
        <a:srgbClr val="CB45B5"/>
      </a:accent1>
      <a:accent2>
        <a:srgbClr val="9833B9"/>
      </a:accent2>
      <a:accent3>
        <a:srgbClr val="7145CB"/>
      </a:accent3>
      <a:accent4>
        <a:srgbClr val="3843BB"/>
      </a:accent4>
      <a:accent5>
        <a:srgbClr val="4588CB"/>
      </a:accent5>
      <a:accent6>
        <a:srgbClr val="33AEB9"/>
      </a:accent6>
      <a:hlink>
        <a:srgbClr val="3F6ABF"/>
      </a:hlink>
      <a:folHlink>
        <a:srgbClr val="7F7F7F"/>
      </a:folHlink>
    </a:clrScheme>
    <a:fontScheme name="Retrospect">
      <a:majorFont>
        <a:latin typeface="Tw Cen M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411</Words>
  <Application>Microsoft Macintosh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Cambria Math</vt:lpstr>
      <vt:lpstr>Tw Cen MT</vt:lpstr>
      <vt:lpstr>Wingdings</vt:lpstr>
      <vt:lpstr>RetrospectVTI</vt:lpstr>
      <vt:lpstr>Ayudantía 1</vt:lpstr>
      <vt:lpstr>Contacto</vt:lpstr>
      <vt:lpstr>Java</vt:lpstr>
      <vt:lpstr>Pseudocódigo</vt:lpstr>
      <vt:lpstr>Análisis asintótico</vt:lpstr>
      <vt:lpstr>Casos Big-O</vt:lpstr>
      <vt:lpstr>Ejercicio 1</vt:lpstr>
      <vt:lpstr>Link Github</vt:lpstr>
      <vt:lpstr>Ejercicio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Ayudantía 1</dc:title>
  <dc:creator>211330716</dc:creator>
  <cp:lastModifiedBy>211330716</cp:lastModifiedBy>
  <cp:revision>12</cp:revision>
  <dcterms:created xsi:type="dcterms:W3CDTF">2024-03-19T23:19:18Z</dcterms:created>
  <dcterms:modified xsi:type="dcterms:W3CDTF">2026-03-16T02:48:22Z</dcterms:modified>
</cp:coreProperties>
</file>